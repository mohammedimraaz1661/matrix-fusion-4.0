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embeddedFontLst>
    <p:embeddedFont>
      <p:font typeface="Times New Roman Bold" panose="02020803070505020304" pitchFamily="18" charset="0"/>
      <p:regular r:id="rId7"/>
      <p:bold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112" y="405803"/>
            <a:ext cx="2937070" cy="1957037"/>
          </a:xfrm>
          <a:custGeom>
            <a:avLst/>
            <a:gdLst/>
            <a:ahLst/>
            <a:cxnLst/>
            <a:rect l="l" t="t" r="r" b="b"/>
            <a:pathLst>
              <a:path w="2937070" h="1957037">
                <a:moveTo>
                  <a:pt x="0" y="0"/>
                </a:moveTo>
                <a:lnTo>
                  <a:pt x="2937070" y="0"/>
                </a:lnTo>
                <a:lnTo>
                  <a:pt x="2937070" y="1957036"/>
                </a:lnTo>
                <a:lnTo>
                  <a:pt x="0" y="195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3846" b="-2623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474163" y="191082"/>
            <a:ext cx="2171758" cy="2171758"/>
          </a:xfrm>
          <a:custGeom>
            <a:avLst/>
            <a:gdLst/>
            <a:ahLst/>
            <a:cxnLst/>
            <a:rect l="l" t="t" r="r" b="b"/>
            <a:pathLst>
              <a:path w="2171758" h="2171758">
                <a:moveTo>
                  <a:pt x="0" y="0"/>
                </a:moveTo>
                <a:lnTo>
                  <a:pt x="2171758" y="0"/>
                </a:lnTo>
                <a:lnTo>
                  <a:pt x="2171758" y="2171757"/>
                </a:lnTo>
                <a:lnTo>
                  <a:pt x="0" y="21717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279216" y="280115"/>
            <a:ext cx="13729567" cy="21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3"/>
              </a:lnSpc>
            </a:pPr>
            <a:r>
              <a:rPr lang="en-US" sz="3987" b="1" spc="-31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YENEPOYA INSTITUTE OF TECHNOLOGY</a:t>
            </a:r>
          </a:p>
          <a:p>
            <a:pPr algn="ctr">
              <a:lnSpc>
                <a:spcPts val="2714"/>
              </a:lnSpc>
            </a:pPr>
            <a:r>
              <a:rPr lang="en-US" sz="2104" spc="-1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N. H. 13, Thodar, Moodbidri, Mangaluru - 574 225, Karnataka.</a:t>
            </a:r>
          </a:p>
          <a:p>
            <a:pPr algn="ctr">
              <a:lnSpc>
                <a:spcPts val="2714"/>
              </a:lnSpc>
            </a:pPr>
            <a:r>
              <a:rPr lang="en-US" sz="2104" spc="-1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Recognized by AICTE, New Delhi, Approved by Govt. of Karnataka, Affiliated to VTU, Belagavi</a:t>
            </a:r>
          </a:p>
          <a:p>
            <a:pPr algn="ctr">
              <a:lnSpc>
                <a:spcPts val="3428"/>
              </a:lnSpc>
            </a:pPr>
            <a:r>
              <a:rPr lang="en-US" sz="265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ARTIFICIAL INTELLIGENCE AND MACHINE LEARNING </a:t>
            </a:r>
          </a:p>
          <a:p>
            <a:pPr algn="ctr">
              <a:lnSpc>
                <a:spcPts val="2714"/>
              </a:lnSpc>
            </a:pPr>
            <a:endParaRPr lang="en-US" sz="2658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337378" y="3742444"/>
            <a:ext cx="7613241" cy="1187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80"/>
              </a:lnSpc>
              <a:spcBef>
                <a:spcPct val="0"/>
              </a:spcBef>
            </a:pPr>
            <a:r>
              <a:rPr lang="en-US" sz="720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Idea Title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125295" y="6281498"/>
            <a:ext cx="565871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/>
            <a:r>
              <a:rPr lang="en-US" sz="3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Name</a:t>
            </a:r>
          </a:p>
          <a:p>
            <a:pPr algn="l"/>
            <a:r>
              <a:rPr lang="en-US" sz="3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Leader Name</a:t>
            </a:r>
          </a:p>
          <a:p>
            <a:pPr algn="l"/>
            <a:r>
              <a:rPr lang="en-US" sz="3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Member 2</a:t>
            </a:r>
          </a:p>
          <a:p>
            <a:pPr algn="l"/>
            <a:r>
              <a:rPr lang="en-US" sz="3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Member 3</a:t>
            </a:r>
          </a:p>
          <a:p>
            <a:pPr algn="l">
              <a:spcBef>
                <a:spcPct val="0"/>
              </a:spcBef>
            </a:pPr>
            <a:r>
              <a:rPr lang="en-US" sz="3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Member 4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0" y="9728097"/>
            <a:ext cx="18288000" cy="866946"/>
            <a:chOff x="0" y="0"/>
            <a:chExt cx="7485829" cy="33776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85828" cy="337761"/>
            </a:xfrm>
            <a:custGeom>
              <a:avLst/>
              <a:gdLst/>
              <a:ahLst/>
              <a:cxnLst/>
              <a:rect l="l" t="t" r="r" b="b"/>
              <a:pathLst>
                <a:path w="7485828" h="337761">
                  <a:moveTo>
                    <a:pt x="11685" y="0"/>
                  </a:moveTo>
                  <a:lnTo>
                    <a:pt x="7474144" y="0"/>
                  </a:lnTo>
                  <a:cubicBezTo>
                    <a:pt x="7480597" y="0"/>
                    <a:pt x="7485828" y="5231"/>
                    <a:pt x="7485828" y="11685"/>
                  </a:cubicBezTo>
                  <a:lnTo>
                    <a:pt x="7485828" y="326076"/>
                  </a:lnTo>
                  <a:cubicBezTo>
                    <a:pt x="7485828" y="329175"/>
                    <a:pt x="7484597" y="332147"/>
                    <a:pt x="7482406" y="334338"/>
                  </a:cubicBezTo>
                  <a:cubicBezTo>
                    <a:pt x="7480215" y="336529"/>
                    <a:pt x="7477243" y="337761"/>
                    <a:pt x="7474144" y="337761"/>
                  </a:cubicBezTo>
                  <a:lnTo>
                    <a:pt x="11685" y="337761"/>
                  </a:lnTo>
                  <a:cubicBezTo>
                    <a:pt x="8586" y="337761"/>
                    <a:pt x="5614" y="336529"/>
                    <a:pt x="3422" y="334338"/>
                  </a:cubicBezTo>
                  <a:cubicBezTo>
                    <a:pt x="1231" y="332147"/>
                    <a:pt x="0" y="329175"/>
                    <a:pt x="0" y="326076"/>
                  </a:cubicBezTo>
                  <a:lnTo>
                    <a:pt x="0" y="11685"/>
                  </a:lnTo>
                  <a:cubicBezTo>
                    <a:pt x="0" y="8586"/>
                    <a:pt x="1231" y="5614"/>
                    <a:pt x="3422" y="3422"/>
                  </a:cubicBezTo>
                  <a:cubicBezTo>
                    <a:pt x="5614" y="1231"/>
                    <a:pt x="8586" y="0"/>
                    <a:pt x="11685" y="0"/>
                  </a:cubicBezTo>
                  <a:close/>
                </a:path>
              </a:pathLst>
            </a:custGeom>
            <a:solidFill>
              <a:srgbClr val="152F4C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7485829" cy="375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944241" y="9486900"/>
            <a:ext cx="4596849" cy="8199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19"/>
              </a:lnSpc>
              <a:spcBef>
                <a:spcPct val="0"/>
              </a:spcBef>
            </a:pPr>
            <a:r>
              <a:rPr lang="en-US" sz="36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www.yenartificia.com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112" y="405803"/>
            <a:ext cx="2937070" cy="1957037"/>
          </a:xfrm>
          <a:custGeom>
            <a:avLst/>
            <a:gdLst/>
            <a:ahLst/>
            <a:cxnLst/>
            <a:rect l="l" t="t" r="r" b="b"/>
            <a:pathLst>
              <a:path w="2937070" h="1957037">
                <a:moveTo>
                  <a:pt x="0" y="0"/>
                </a:moveTo>
                <a:lnTo>
                  <a:pt x="2937070" y="0"/>
                </a:lnTo>
                <a:lnTo>
                  <a:pt x="2937070" y="1957036"/>
                </a:lnTo>
                <a:lnTo>
                  <a:pt x="0" y="195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3846" b="-2623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474163" y="191082"/>
            <a:ext cx="2171758" cy="2171758"/>
          </a:xfrm>
          <a:custGeom>
            <a:avLst/>
            <a:gdLst/>
            <a:ahLst/>
            <a:cxnLst/>
            <a:rect l="l" t="t" r="r" b="b"/>
            <a:pathLst>
              <a:path w="2171758" h="2171758">
                <a:moveTo>
                  <a:pt x="0" y="0"/>
                </a:moveTo>
                <a:lnTo>
                  <a:pt x="2171758" y="0"/>
                </a:lnTo>
                <a:lnTo>
                  <a:pt x="2171758" y="2171757"/>
                </a:lnTo>
                <a:lnTo>
                  <a:pt x="0" y="21717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279216" y="280115"/>
            <a:ext cx="13729567" cy="21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3"/>
              </a:lnSpc>
            </a:pPr>
            <a:r>
              <a:rPr lang="en-US" sz="3987" b="1" spc="-31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YENEPOYA INSTITUTE OF TECHNOLOGY</a:t>
            </a:r>
          </a:p>
          <a:p>
            <a:pPr algn="ctr">
              <a:lnSpc>
                <a:spcPts val="2714"/>
              </a:lnSpc>
            </a:pPr>
            <a:r>
              <a:rPr lang="en-US" sz="2104" spc="-1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N. H. 13, Thodar, Moodbidri, Mangaluru - 574 225, Karnataka.</a:t>
            </a:r>
          </a:p>
          <a:p>
            <a:pPr algn="ctr">
              <a:lnSpc>
                <a:spcPts val="2714"/>
              </a:lnSpc>
            </a:pPr>
            <a:r>
              <a:rPr lang="en-US" sz="2104" spc="-1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Recognized by AICTE, New Delhi, Approved by Govt. of Karnataka, Affiliated to VTU, Belagavi</a:t>
            </a:r>
          </a:p>
          <a:p>
            <a:pPr algn="ctr">
              <a:lnSpc>
                <a:spcPts val="3428"/>
              </a:lnSpc>
            </a:pPr>
            <a:r>
              <a:rPr lang="en-US" sz="265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ARTIFICIAL INTELLIGENCE AND MACHINE LEARNING </a:t>
            </a:r>
          </a:p>
          <a:p>
            <a:pPr algn="ctr">
              <a:lnSpc>
                <a:spcPts val="2714"/>
              </a:lnSpc>
            </a:pPr>
            <a:endParaRPr lang="en-US" sz="2658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809690" y="2797766"/>
            <a:ext cx="4925109" cy="1187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79"/>
              </a:lnSpc>
              <a:spcBef>
                <a:spcPct val="0"/>
              </a:spcBef>
            </a:pPr>
            <a:r>
              <a:rPr lang="en-US" sz="71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Idea Title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4538938"/>
            <a:ext cx="16230600" cy="932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19"/>
              </a:lnSpc>
              <a:spcBef>
                <a:spcPct val="0"/>
              </a:spcBef>
            </a:pPr>
            <a:r>
              <a:rPr lang="en-US" sz="52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Solution (Describe your Idea/Solution/Prototype)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985469"/>
            <a:ext cx="16230600" cy="4927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Detailed explanation of the proposed solution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How it addresses the problem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Innovation and uniqueness of the solution</a:t>
            </a:r>
          </a:p>
          <a:p>
            <a:pPr algn="l">
              <a:lnSpc>
                <a:spcPts val="5599"/>
              </a:lnSpc>
            </a:pP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599"/>
              </a:lnSpc>
            </a:pP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599"/>
              </a:lnSpc>
            </a:pP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599"/>
              </a:lnSpc>
              <a:spcBef>
                <a:spcPct val="0"/>
              </a:spcBef>
            </a:pPr>
            <a:endParaRPr lang="en-US" sz="39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2" name="Group 7">
            <a:extLst>
              <a:ext uri="{FF2B5EF4-FFF2-40B4-BE49-F238E27FC236}">
                <a16:creationId xmlns:a16="http://schemas.microsoft.com/office/drawing/2014/main" id="{2B07F6E8-87E9-899E-672F-4C7BF2AFCAD0}"/>
              </a:ext>
            </a:extLst>
          </p:cNvPr>
          <p:cNvGrpSpPr/>
          <p:nvPr/>
        </p:nvGrpSpPr>
        <p:grpSpPr>
          <a:xfrm>
            <a:off x="0" y="9728097"/>
            <a:ext cx="18288000" cy="866946"/>
            <a:chOff x="0" y="0"/>
            <a:chExt cx="7485829" cy="337761"/>
          </a:xfrm>
        </p:grpSpPr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9868788-1A25-2D98-FA01-DC97EFEA80AD}"/>
                </a:ext>
              </a:extLst>
            </p:cNvPr>
            <p:cNvSpPr/>
            <p:nvPr/>
          </p:nvSpPr>
          <p:spPr>
            <a:xfrm>
              <a:off x="0" y="0"/>
              <a:ext cx="7485828" cy="337761"/>
            </a:xfrm>
            <a:custGeom>
              <a:avLst/>
              <a:gdLst/>
              <a:ahLst/>
              <a:cxnLst/>
              <a:rect l="l" t="t" r="r" b="b"/>
              <a:pathLst>
                <a:path w="7485828" h="337761">
                  <a:moveTo>
                    <a:pt x="11685" y="0"/>
                  </a:moveTo>
                  <a:lnTo>
                    <a:pt x="7474144" y="0"/>
                  </a:lnTo>
                  <a:cubicBezTo>
                    <a:pt x="7480597" y="0"/>
                    <a:pt x="7485828" y="5231"/>
                    <a:pt x="7485828" y="11685"/>
                  </a:cubicBezTo>
                  <a:lnTo>
                    <a:pt x="7485828" y="326076"/>
                  </a:lnTo>
                  <a:cubicBezTo>
                    <a:pt x="7485828" y="329175"/>
                    <a:pt x="7484597" y="332147"/>
                    <a:pt x="7482406" y="334338"/>
                  </a:cubicBezTo>
                  <a:cubicBezTo>
                    <a:pt x="7480215" y="336529"/>
                    <a:pt x="7477243" y="337761"/>
                    <a:pt x="7474144" y="337761"/>
                  </a:cubicBezTo>
                  <a:lnTo>
                    <a:pt x="11685" y="337761"/>
                  </a:lnTo>
                  <a:cubicBezTo>
                    <a:pt x="8586" y="337761"/>
                    <a:pt x="5614" y="336529"/>
                    <a:pt x="3422" y="334338"/>
                  </a:cubicBezTo>
                  <a:cubicBezTo>
                    <a:pt x="1231" y="332147"/>
                    <a:pt x="0" y="329175"/>
                    <a:pt x="0" y="326076"/>
                  </a:cubicBezTo>
                  <a:lnTo>
                    <a:pt x="0" y="11685"/>
                  </a:lnTo>
                  <a:cubicBezTo>
                    <a:pt x="0" y="8586"/>
                    <a:pt x="1231" y="5614"/>
                    <a:pt x="3422" y="3422"/>
                  </a:cubicBezTo>
                  <a:cubicBezTo>
                    <a:pt x="5614" y="1231"/>
                    <a:pt x="8586" y="0"/>
                    <a:pt x="11685" y="0"/>
                  </a:cubicBezTo>
                  <a:close/>
                </a:path>
              </a:pathLst>
            </a:custGeom>
            <a:solidFill>
              <a:srgbClr val="152F4C"/>
            </a:solidFill>
          </p:spPr>
        </p:sp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1B8635AE-D991-82FD-0E30-00D32F93BDD5}"/>
                </a:ext>
              </a:extLst>
            </p:cNvPr>
            <p:cNvSpPr txBox="1"/>
            <p:nvPr/>
          </p:nvSpPr>
          <p:spPr>
            <a:xfrm>
              <a:off x="0" y="-38100"/>
              <a:ext cx="7485829" cy="375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42BBAEC-DDFE-B792-E78C-E9047C680BE2}"/>
              </a:ext>
            </a:extLst>
          </p:cNvPr>
          <p:cNvSpPr txBox="1"/>
          <p:nvPr/>
        </p:nvSpPr>
        <p:spPr>
          <a:xfrm>
            <a:off x="6944241" y="9486900"/>
            <a:ext cx="4596849" cy="8199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19"/>
              </a:lnSpc>
              <a:spcBef>
                <a:spcPct val="0"/>
              </a:spcBef>
            </a:pPr>
            <a:r>
              <a:rPr lang="en-US" sz="36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www.yenartificia.com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112" y="405803"/>
            <a:ext cx="2937070" cy="1957037"/>
          </a:xfrm>
          <a:custGeom>
            <a:avLst/>
            <a:gdLst/>
            <a:ahLst/>
            <a:cxnLst/>
            <a:rect l="l" t="t" r="r" b="b"/>
            <a:pathLst>
              <a:path w="2937070" h="1957037">
                <a:moveTo>
                  <a:pt x="0" y="0"/>
                </a:moveTo>
                <a:lnTo>
                  <a:pt x="2937070" y="0"/>
                </a:lnTo>
                <a:lnTo>
                  <a:pt x="2937070" y="1957036"/>
                </a:lnTo>
                <a:lnTo>
                  <a:pt x="0" y="195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3846" b="-2623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474163" y="191082"/>
            <a:ext cx="2171758" cy="2171758"/>
          </a:xfrm>
          <a:custGeom>
            <a:avLst/>
            <a:gdLst/>
            <a:ahLst/>
            <a:cxnLst/>
            <a:rect l="l" t="t" r="r" b="b"/>
            <a:pathLst>
              <a:path w="2171758" h="2171758">
                <a:moveTo>
                  <a:pt x="0" y="0"/>
                </a:moveTo>
                <a:lnTo>
                  <a:pt x="2171758" y="0"/>
                </a:lnTo>
                <a:lnTo>
                  <a:pt x="2171758" y="2171757"/>
                </a:lnTo>
                <a:lnTo>
                  <a:pt x="0" y="21717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279216" y="280115"/>
            <a:ext cx="13729567" cy="21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3"/>
              </a:lnSpc>
            </a:pPr>
            <a:r>
              <a:rPr lang="en-US" sz="3987" b="1" spc="-31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YENEPOYA INSTITUTE OF TECHNOLOGY</a:t>
            </a:r>
          </a:p>
          <a:p>
            <a:pPr algn="ctr">
              <a:lnSpc>
                <a:spcPts val="2714"/>
              </a:lnSpc>
            </a:pPr>
            <a:r>
              <a:rPr lang="en-US" sz="2104" spc="-1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N. H. 13, Thodar, Moodbidri, Mangaluru - 574 225, Karnataka.</a:t>
            </a:r>
          </a:p>
          <a:p>
            <a:pPr algn="ctr">
              <a:lnSpc>
                <a:spcPts val="2714"/>
              </a:lnSpc>
            </a:pPr>
            <a:r>
              <a:rPr lang="en-US" sz="2104" spc="-1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Recognized by AICTE, New Delhi, Approved by Govt. of Karnataka, Affiliated to VTU, Belagavi</a:t>
            </a:r>
          </a:p>
          <a:p>
            <a:pPr algn="ctr">
              <a:lnSpc>
                <a:spcPts val="3428"/>
              </a:lnSpc>
            </a:pPr>
            <a:r>
              <a:rPr lang="en-US" sz="265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ARTIFICIAL INTELLIGENCE AND MACHINE LEARNING </a:t>
            </a:r>
          </a:p>
          <a:p>
            <a:pPr algn="ctr">
              <a:lnSpc>
                <a:spcPts val="2714"/>
              </a:lnSpc>
            </a:pPr>
            <a:endParaRPr lang="en-US" sz="2658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429000" y="2797766"/>
            <a:ext cx="11430000" cy="12093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79"/>
              </a:lnSpc>
              <a:spcBef>
                <a:spcPct val="0"/>
              </a:spcBef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APPROACH</a:t>
            </a:r>
            <a:endParaRPr lang="en-US" sz="7200" b="1" dirty="0">
              <a:solidFill>
                <a:srgbClr val="000000"/>
              </a:solidFill>
              <a:latin typeface="Times New Roman" panose="02020603050405020304" pitchFamily="18" charset="0"/>
              <a:ea typeface="Times New Roman Bold"/>
              <a:cs typeface="Times New Roman" panose="02020603050405020304" pitchFamily="18" charset="0"/>
              <a:sym typeface="Times New Roman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4007071"/>
            <a:ext cx="16230600" cy="3077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to be used (e.g. programming languages, frameworks, hardware)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and process for implementation (Flow Charts / Images / working prototype)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B2113E-8CFC-C5EE-ED59-8D8C89E379BB}"/>
              </a:ext>
            </a:extLst>
          </p:cNvPr>
          <p:cNvSpPr txBox="1"/>
          <p:nvPr/>
        </p:nvSpPr>
        <p:spPr>
          <a:xfrm>
            <a:off x="6944241" y="9658681"/>
            <a:ext cx="4596849" cy="8199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19"/>
              </a:lnSpc>
              <a:spcBef>
                <a:spcPct val="0"/>
              </a:spcBef>
            </a:pPr>
            <a:r>
              <a:rPr lang="en-US" sz="36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www.yenartificia.com</a:t>
            </a:r>
          </a:p>
        </p:txBody>
      </p:sp>
      <p:grpSp>
        <p:nvGrpSpPr>
          <p:cNvPr id="14" name="Group 7">
            <a:extLst>
              <a:ext uri="{FF2B5EF4-FFF2-40B4-BE49-F238E27FC236}">
                <a16:creationId xmlns:a16="http://schemas.microsoft.com/office/drawing/2014/main" id="{12ED5ABE-2EC5-F93E-5797-8C3107CE501E}"/>
              </a:ext>
            </a:extLst>
          </p:cNvPr>
          <p:cNvGrpSpPr/>
          <p:nvPr/>
        </p:nvGrpSpPr>
        <p:grpSpPr>
          <a:xfrm>
            <a:off x="0" y="9728097"/>
            <a:ext cx="18288000" cy="866946"/>
            <a:chOff x="0" y="0"/>
            <a:chExt cx="7485829" cy="337761"/>
          </a:xfrm>
        </p:grpSpPr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B05F4E09-CC01-434B-654A-12E897744929}"/>
                </a:ext>
              </a:extLst>
            </p:cNvPr>
            <p:cNvSpPr/>
            <p:nvPr/>
          </p:nvSpPr>
          <p:spPr>
            <a:xfrm>
              <a:off x="0" y="0"/>
              <a:ext cx="7485828" cy="337761"/>
            </a:xfrm>
            <a:custGeom>
              <a:avLst/>
              <a:gdLst/>
              <a:ahLst/>
              <a:cxnLst/>
              <a:rect l="l" t="t" r="r" b="b"/>
              <a:pathLst>
                <a:path w="7485828" h="337761">
                  <a:moveTo>
                    <a:pt x="11685" y="0"/>
                  </a:moveTo>
                  <a:lnTo>
                    <a:pt x="7474144" y="0"/>
                  </a:lnTo>
                  <a:cubicBezTo>
                    <a:pt x="7480597" y="0"/>
                    <a:pt x="7485828" y="5231"/>
                    <a:pt x="7485828" y="11685"/>
                  </a:cubicBezTo>
                  <a:lnTo>
                    <a:pt x="7485828" y="326076"/>
                  </a:lnTo>
                  <a:cubicBezTo>
                    <a:pt x="7485828" y="329175"/>
                    <a:pt x="7484597" y="332147"/>
                    <a:pt x="7482406" y="334338"/>
                  </a:cubicBezTo>
                  <a:cubicBezTo>
                    <a:pt x="7480215" y="336529"/>
                    <a:pt x="7477243" y="337761"/>
                    <a:pt x="7474144" y="337761"/>
                  </a:cubicBezTo>
                  <a:lnTo>
                    <a:pt x="11685" y="337761"/>
                  </a:lnTo>
                  <a:cubicBezTo>
                    <a:pt x="8586" y="337761"/>
                    <a:pt x="5614" y="336529"/>
                    <a:pt x="3422" y="334338"/>
                  </a:cubicBezTo>
                  <a:cubicBezTo>
                    <a:pt x="1231" y="332147"/>
                    <a:pt x="0" y="329175"/>
                    <a:pt x="0" y="326076"/>
                  </a:cubicBezTo>
                  <a:lnTo>
                    <a:pt x="0" y="11685"/>
                  </a:lnTo>
                  <a:cubicBezTo>
                    <a:pt x="0" y="8586"/>
                    <a:pt x="1231" y="5614"/>
                    <a:pt x="3422" y="3422"/>
                  </a:cubicBezTo>
                  <a:cubicBezTo>
                    <a:pt x="5614" y="1231"/>
                    <a:pt x="8586" y="0"/>
                    <a:pt x="11685" y="0"/>
                  </a:cubicBezTo>
                  <a:close/>
                </a:path>
              </a:pathLst>
            </a:custGeom>
            <a:solidFill>
              <a:srgbClr val="152F4C"/>
            </a:solidFill>
          </p:spPr>
        </p:sp>
        <p:sp>
          <p:nvSpPr>
            <p:cNvPr id="16" name="TextBox 9">
              <a:extLst>
                <a:ext uri="{FF2B5EF4-FFF2-40B4-BE49-F238E27FC236}">
                  <a16:creationId xmlns:a16="http://schemas.microsoft.com/office/drawing/2014/main" id="{01CC63A0-3015-06F1-6DD8-1C85EC644C99}"/>
                </a:ext>
              </a:extLst>
            </p:cNvPr>
            <p:cNvSpPr txBox="1"/>
            <p:nvPr/>
          </p:nvSpPr>
          <p:spPr>
            <a:xfrm>
              <a:off x="0" y="-38100"/>
              <a:ext cx="7485829" cy="375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BB9D3A9-3704-5698-BA36-1BAFC3362706}"/>
              </a:ext>
            </a:extLst>
          </p:cNvPr>
          <p:cNvSpPr txBox="1"/>
          <p:nvPr/>
        </p:nvSpPr>
        <p:spPr>
          <a:xfrm>
            <a:off x="6944241" y="9486900"/>
            <a:ext cx="4596849" cy="8199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19"/>
              </a:lnSpc>
              <a:spcBef>
                <a:spcPct val="0"/>
              </a:spcBef>
            </a:pPr>
            <a:r>
              <a:rPr lang="en-US" sz="36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www.yenartificia.com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112" y="405803"/>
            <a:ext cx="2937070" cy="1957037"/>
          </a:xfrm>
          <a:custGeom>
            <a:avLst/>
            <a:gdLst/>
            <a:ahLst/>
            <a:cxnLst/>
            <a:rect l="l" t="t" r="r" b="b"/>
            <a:pathLst>
              <a:path w="2937070" h="1957037">
                <a:moveTo>
                  <a:pt x="0" y="0"/>
                </a:moveTo>
                <a:lnTo>
                  <a:pt x="2937070" y="0"/>
                </a:lnTo>
                <a:lnTo>
                  <a:pt x="2937070" y="1957036"/>
                </a:lnTo>
                <a:lnTo>
                  <a:pt x="0" y="195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3846" b="-2623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474163" y="191082"/>
            <a:ext cx="2171758" cy="2171758"/>
          </a:xfrm>
          <a:custGeom>
            <a:avLst/>
            <a:gdLst/>
            <a:ahLst/>
            <a:cxnLst/>
            <a:rect l="l" t="t" r="r" b="b"/>
            <a:pathLst>
              <a:path w="2171758" h="2171758">
                <a:moveTo>
                  <a:pt x="0" y="0"/>
                </a:moveTo>
                <a:lnTo>
                  <a:pt x="2171758" y="0"/>
                </a:lnTo>
                <a:lnTo>
                  <a:pt x="2171758" y="2171757"/>
                </a:lnTo>
                <a:lnTo>
                  <a:pt x="0" y="21717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279216" y="280115"/>
            <a:ext cx="13729567" cy="21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3"/>
              </a:lnSpc>
            </a:pPr>
            <a:r>
              <a:rPr lang="en-US" sz="3987" b="1" spc="-314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YENEPOYA INSTITUTE OF TECHNOLOGY</a:t>
            </a:r>
          </a:p>
          <a:p>
            <a:pPr algn="ctr">
              <a:lnSpc>
                <a:spcPts val="2714"/>
              </a:lnSpc>
            </a:pPr>
            <a:r>
              <a:rPr lang="en-US" sz="2104" spc="-166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N. H. 13, </a:t>
            </a:r>
            <a:r>
              <a:rPr lang="en-US" sz="2104" spc="-166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Thodar</a:t>
            </a:r>
            <a:r>
              <a:rPr lang="en-US" sz="2104" spc="-166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104" spc="-166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Moodbidri</a:t>
            </a:r>
            <a:r>
              <a:rPr lang="en-US" sz="2104" spc="-166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104" spc="-166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Mangaluru</a:t>
            </a:r>
            <a:r>
              <a:rPr lang="en-US" sz="2104" spc="-166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- 574 225, Karnataka.</a:t>
            </a:r>
          </a:p>
          <a:p>
            <a:pPr algn="ctr">
              <a:lnSpc>
                <a:spcPts val="2714"/>
              </a:lnSpc>
            </a:pPr>
            <a:r>
              <a:rPr lang="en-US" sz="2104" spc="-166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Recognized by AICTE, New Delhi, Approved by Govt. of Karnataka, Affiliated to VTU, Belagavi</a:t>
            </a:r>
          </a:p>
          <a:p>
            <a:pPr algn="ctr">
              <a:lnSpc>
                <a:spcPts val="3428"/>
              </a:lnSpc>
            </a:pPr>
            <a:r>
              <a:rPr lang="en-US" sz="2658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ARTIFICIAL INTELLIGENCE AND MACHINE LEARNING </a:t>
            </a:r>
          </a:p>
          <a:p>
            <a:pPr algn="ctr">
              <a:lnSpc>
                <a:spcPts val="2714"/>
              </a:lnSpc>
            </a:pPr>
            <a:endParaRPr lang="en-US" sz="2658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048000" y="2885353"/>
            <a:ext cx="13296899" cy="1187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79"/>
              </a:lnSpc>
              <a:spcBef>
                <a:spcPct val="0"/>
              </a:spcBef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FEASIBILITY AND VIABILITY</a:t>
            </a:r>
            <a:endParaRPr lang="en-US" sz="7199" b="1" dirty="0">
              <a:solidFill>
                <a:srgbClr val="000000"/>
              </a:solidFill>
              <a:latin typeface="Times New Roman" panose="02020603050405020304" pitchFamily="18" charset="0"/>
              <a:ea typeface="Times New Roman Bold"/>
              <a:cs typeface="Times New Roman" panose="02020603050405020304" pitchFamily="18" charset="0"/>
              <a:sym typeface="Times New Roman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2AE500-D864-E424-78A6-04F5DB7630F3}"/>
              </a:ext>
            </a:extLst>
          </p:cNvPr>
          <p:cNvSpPr txBox="1"/>
          <p:nvPr/>
        </p:nvSpPr>
        <p:spPr>
          <a:xfrm>
            <a:off x="8305800" y="5753100"/>
            <a:ext cx="4648200" cy="60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16" name="TextBox 9"/>
          <p:cNvSpPr txBox="1"/>
          <p:nvPr/>
        </p:nvSpPr>
        <p:spPr>
          <a:xfrm>
            <a:off x="1028700" y="4538938"/>
            <a:ext cx="16230600" cy="871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19"/>
              </a:lnSpc>
              <a:spcBef>
                <a:spcPct val="0"/>
              </a:spcBef>
            </a:pPr>
            <a:endParaRPr lang="en-US" sz="5299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4322D-8E02-AE14-0A1A-B319ACE9A853}"/>
              </a:ext>
            </a:extLst>
          </p:cNvPr>
          <p:cNvSpPr txBox="1"/>
          <p:nvPr/>
        </p:nvSpPr>
        <p:spPr>
          <a:xfrm>
            <a:off x="4572000" y="4837470"/>
            <a:ext cx="8001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of the feasibility of the idea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Potential challenges and risks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Strategies for overcoming these challenges</a:t>
            </a:r>
          </a:p>
        </p:txBody>
      </p:sp>
      <p:grpSp>
        <p:nvGrpSpPr>
          <p:cNvPr id="25" name="Group 5"/>
          <p:cNvGrpSpPr/>
          <p:nvPr/>
        </p:nvGrpSpPr>
        <p:grpSpPr>
          <a:xfrm>
            <a:off x="0" y="9728097"/>
            <a:ext cx="18288000" cy="866946"/>
            <a:chOff x="0" y="0"/>
            <a:chExt cx="7485829" cy="337761"/>
          </a:xfrm>
        </p:grpSpPr>
        <p:sp>
          <p:nvSpPr>
            <p:cNvPr id="26" name="Freeform 6"/>
            <p:cNvSpPr/>
            <p:nvPr/>
          </p:nvSpPr>
          <p:spPr>
            <a:xfrm>
              <a:off x="0" y="0"/>
              <a:ext cx="7485828" cy="337761"/>
            </a:xfrm>
            <a:custGeom>
              <a:avLst/>
              <a:gdLst/>
              <a:ahLst/>
              <a:cxnLst/>
              <a:rect l="l" t="t" r="r" b="b"/>
              <a:pathLst>
                <a:path w="7485828" h="337761">
                  <a:moveTo>
                    <a:pt x="11685" y="0"/>
                  </a:moveTo>
                  <a:lnTo>
                    <a:pt x="7474144" y="0"/>
                  </a:lnTo>
                  <a:cubicBezTo>
                    <a:pt x="7480597" y="0"/>
                    <a:pt x="7485828" y="5231"/>
                    <a:pt x="7485828" y="11685"/>
                  </a:cubicBezTo>
                  <a:lnTo>
                    <a:pt x="7485828" y="326076"/>
                  </a:lnTo>
                  <a:cubicBezTo>
                    <a:pt x="7485828" y="329175"/>
                    <a:pt x="7484597" y="332147"/>
                    <a:pt x="7482406" y="334338"/>
                  </a:cubicBezTo>
                  <a:cubicBezTo>
                    <a:pt x="7480215" y="336529"/>
                    <a:pt x="7477243" y="337761"/>
                    <a:pt x="7474144" y="337761"/>
                  </a:cubicBezTo>
                  <a:lnTo>
                    <a:pt x="11685" y="337761"/>
                  </a:lnTo>
                  <a:cubicBezTo>
                    <a:pt x="8586" y="337761"/>
                    <a:pt x="5614" y="336529"/>
                    <a:pt x="3422" y="334338"/>
                  </a:cubicBezTo>
                  <a:cubicBezTo>
                    <a:pt x="1231" y="332147"/>
                    <a:pt x="0" y="329175"/>
                    <a:pt x="0" y="326076"/>
                  </a:cubicBezTo>
                  <a:lnTo>
                    <a:pt x="0" y="11685"/>
                  </a:lnTo>
                  <a:cubicBezTo>
                    <a:pt x="0" y="8586"/>
                    <a:pt x="1231" y="5614"/>
                    <a:pt x="3422" y="3422"/>
                  </a:cubicBezTo>
                  <a:cubicBezTo>
                    <a:pt x="5614" y="1231"/>
                    <a:pt x="8586" y="0"/>
                    <a:pt x="11685" y="0"/>
                  </a:cubicBezTo>
                  <a:close/>
                </a:path>
              </a:pathLst>
            </a:custGeom>
            <a:solidFill>
              <a:srgbClr val="152F4C"/>
            </a:solidFill>
          </p:spPr>
        </p:sp>
        <p:sp>
          <p:nvSpPr>
            <p:cNvPr id="27" name="TextBox 7"/>
            <p:cNvSpPr txBox="1"/>
            <p:nvPr/>
          </p:nvSpPr>
          <p:spPr>
            <a:xfrm>
              <a:off x="0" y="-38100"/>
              <a:ext cx="7485829" cy="375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0C2F7435-9B42-C423-C120-C4722642E3DD}"/>
              </a:ext>
            </a:extLst>
          </p:cNvPr>
          <p:cNvSpPr txBox="1"/>
          <p:nvPr/>
        </p:nvSpPr>
        <p:spPr>
          <a:xfrm>
            <a:off x="6944241" y="9486900"/>
            <a:ext cx="4596849" cy="8199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19"/>
              </a:lnSpc>
              <a:spcBef>
                <a:spcPct val="0"/>
              </a:spcBef>
            </a:pPr>
            <a:r>
              <a:rPr lang="en-US" sz="36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www.yenartificia.com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19112" y="405803"/>
            <a:ext cx="2937070" cy="1957037"/>
          </a:xfrm>
          <a:custGeom>
            <a:avLst/>
            <a:gdLst/>
            <a:ahLst/>
            <a:cxnLst/>
            <a:rect l="l" t="t" r="r" b="b"/>
            <a:pathLst>
              <a:path w="2937070" h="1957037">
                <a:moveTo>
                  <a:pt x="0" y="0"/>
                </a:moveTo>
                <a:lnTo>
                  <a:pt x="2937070" y="0"/>
                </a:lnTo>
                <a:lnTo>
                  <a:pt x="2937070" y="1957036"/>
                </a:lnTo>
                <a:lnTo>
                  <a:pt x="0" y="195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3846" b="-2623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474163" y="191082"/>
            <a:ext cx="2171758" cy="2171758"/>
          </a:xfrm>
          <a:custGeom>
            <a:avLst/>
            <a:gdLst/>
            <a:ahLst/>
            <a:cxnLst/>
            <a:rect l="l" t="t" r="r" b="b"/>
            <a:pathLst>
              <a:path w="2171758" h="2171758">
                <a:moveTo>
                  <a:pt x="0" y="0"/>
                </a:moveTo>
                <a:lnTo>
                  <a:pt x="2171758" y="0"/>
                </a:lnTo>
                <a:lnTo>
                  <a:pt x="2171758" y="2171757"/>
                </a:lnTo>
                <a:lnTo>
                  <a:pt x="0" y="21717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2279216" y="280115"/>
            <a:ext cx="13729567" cy="2111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3"/>
              </a:lnSpc>
            </a:pPr>
            <a:r>
              <a:rPr lang="en-US" sz="3987" b="1" spc="-314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YENEPOYA INSTITUTE OF TECHNOLOGY</a:t>
            </a:r>
          </a:p>
          <a:p>
            <a:pPr algn="ctr">
              <a:lnSpc>
                <a:spcPts val="2714"/>
              </a:lnSpc>
            </a:pPr>
            <a:r>
              <a:rPr lang="en-US" sz="2104" spc="-1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N. H. 13, Thodar, Moodbidri, Mangaluru - 574 225, Karnataka.</a:t>
            </a:r>
          </a:p>
          <a:p>
            <a:pPr algn="ctr">
              <a:lnSpc>
                <a:spcPts val="2714"/>
              </a:lnSpc>
            </a:pPr>
            <a:r>
              <a:rPr lang="en-US" sz="2104" spc="-166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Recognized by AICTE, New Delhi, Approved by Govt. of Karnataka, Affiliated to VTU, Belagavi</a:t>
            </a:r>
          </a:p>
          <a:p>
            <a:pPr algn="ctr">
              <a:lnSpc>
                <a:spcPts val="3428"/>
              </a:lnSpc>
            </a:pPr>
            <a:r>
              <a:rPr lang="en-US" sz="2658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ARTIFICIAL INTELLIGENCE AND MACHINE LEARNING </a:t>
            </a:r>
          </a:p>
          <a:p>
            <a:pPr algn="ctr">
              <a:lnSpc>
                <a:spcPts val="2714"/>
              </a:lnSpc>
            </a:pPr>
            <a:endParaRPr lang="en-US" sz="2658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657600" y="2797766"/>
            <a:ext cx="11429999" cy="12093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79"/>
              </a:lnSpc>
              <a:spcBef>
                <a:spcPct val="0"/>
              </a:spcBef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AND BENEFITS</a:t>
            </a:r>
            <a:endParaRPr lang="en-US" sz="7199" b="1" dirty="0">
              <a:solidFill>
                <a:srgbClr val="000000"/>
              </a:solidFill>
              <a:latin typeface="Times New Roman" panose="02020603050405020304" pitchFamily="18" charset="0"/>
              <a:ea typeface="Times New Roman Bold"/>
              <a:cs typeface="Times New Roman" panose="02020603050405020304" pitchFamily="18" charset="0"/>
              <a:sym typeface="Times New Roman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15321" y="4751277"/>
            <a:ext cx="16230600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Potential impact on the target audience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Benefits of the solution (social, economic, environmental, etc.)</a:t>
            </a:r>
          </a:p>
        </p:txBody>
      </p:sp>
      <p:grpSp>
        <p:nvGrpSpPr>
          <p:cNvPr id="14" name="Group 7">
            <a:extLst>
              <a:ext uri="{FF2B5EF4-FFF2-40B4-BE49-F238E27FC236}">
                <a16:creationId xmlns:a16="http://schemas.microsoft.com/office/drawing/2014/main" id="{5194B73D-4728-8AF7-86D4-290674F4F60C}"/>
              </a:ext>
            </a:extLst>
          </p:cNvPr>
          <p:cNvGrpSpPr/>
          <p:nvPr/>
        </p:nvGrpSpPr>
        <p:grpSpPr>
          <a:xfrm>
            <a:off x="0" y="9728097"/>
            <a:ext cx="18288000" cy="866946"/>
            <a:chOff x="0" y="0"/>
            <a:chExt cx="7485829" cy="337761"/>
          </a:xfrm>
        </p:grpSpPr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843B198-7735-0A02-C6F1-EBA6F81BA273}"/>
                </a:ext>
              </a:extLst>
            </p:cNvPr>
            <p:cNvSpPr/>
            <p:nvPr/>
          </p:nvSpPr>
          <p:spPr>
            <a:xfrm>
              <a:off x="0" y="0"/>
              <a:ext cx="7485828" cy="337761"/>
            </a:xfrm>
            <a:custGeom>
              <a:avLst/>
              <a:gdLst/>
              <a:ahLst/>
              <a:cxnLst/>
              <a:rect l="l" t="t" r="r" b="b"/>
              <a:pathLst>
                <a:path w="7485828" h="337761">
                  <a:moveTo>
                    <a:pt x="11685" y="0"/>
                  </a:moveTo>
                  <a:lnTo>
                    <a:pt x="7474144" y="0"/>
                  </a:lnTo>
                  <a:cubicBezTo>
                    <a:pt x="7480597" y="0"/>
                    <a:pt x="7485828" y="5231"/>
                    <a:pt x="7485828" y="11685"/>
                  </a:cubicBezTo>
                  <a:lnTo>
                    <a:pt x="7485828" y="326076"/>
                  </a:lnTo>
                  <a:cubicBezTo>
                    <a:pt x="7485828" y="329175"/>
                    <a:pt x="7484597" y="332147"/>
                    <a:pt x="7482406" y="334338"/>
                  </a:cubicBezTo>
                  <a:cubicBezTo>
                    <a:pt x="7480215" y="336529"/>
                    <a:pt x="7477243" y="337761"/>
                    <a:pt x="7474144" y="337761"/>
                  </a:cubicBezTo>
                  <a:lnTo>
                    <a:pt x="11685" y="337761"/>
                  </a:lnTo>
                  <a:cubicBezTo>
                    <a:pt x="8586" y="337761"/>
                    <a:pt x="5614" y="336529"/>
                    <a:pt x="3422" y="334338"/>
                  </a:cubicBezTo>
                  <a:cubicBezTo>
                    <a:pt x="1231" y="332147"/>
                    <a:pt x="0" y="329175"/>
                    <a:pt x="0" y="326076"/>
                  </a:cubicBezTo>
                  <a:lnTo>
                    <a:pt x="0" y="11685"/>
                  </a:lnTo>
                  <a:cubicBezTo>
                    <a:pt x="0" y="8586"/>
                    <a:pt x="1231" y="5614"/>
                    <a:pt x="3422" y="3422"/>
                  </a:cubicBezTo>
                  <a:cubicBezTo>
                    <a:pt x="5614" y="1231"/>
                    <a:pt x="8586" y="0"/>
                    <a:pt x="11685" y="0"/>
                  </a:cubicBezTo>
                  <a:close/>
                </a:path>
              </a:pathLst>
            </a:custGeom>
            <a:solidFill>
              <a:srgbClr val="152F4C"/>
            </a:solidFill>
          </p:spPr>
        </p:sp>
        <p:sp>
          <p:nvSpPr>
            <p:cNvPr id="16" name="TextBox 9">
              <a:extLst>
                <a:ext uri="{FF2B5EF4-FFF2-40B4-BE49-F238E27FC236}">
                  <a16:creationId xmlns:a16="http://schemas.microsoft.com/office/drawing/2014/main" id="{0970232E-CA66-F68A-FF3F-0556F6EDD3DB}"/>
                </a:ext>
              </a:extLst>
            </p:cNvPr>
            <p:cNvSpPr txBox="1"/>
            <p:nvPr/>
          </p:nvSpPr>
          <p:spPr>
            <a:xfrm>
              <a:off x="0" y="-38100"/>
              <a:ext cx="7485829" cy="3758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DD74963-4417-3BB9-EF13-E7247BBB73FA}"/>
              </a:ext>
            </a:extLst>
          </p:cNvPr>
          <p:cNvSpPr txBox="1"/>
          <p:nvPr/>
        </p:nvSpPr>
        <p:spPr>
          <a:xfrm>
            <a:off x="6944241" y="9486900"/>
            <a:ext cx="4596849" cy="8199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419"/>
              </a:lnSpc>
              <a:spcBef>
                <a:spcPct val="0"/>
              </a:spcBef>
            </a:pPr>
            <a:r>
              <a:rPr lang="en-US" sz="3600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www.yenartificia.com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386</Words>
  <Application>Microsoft Office PowerPoint</Application>
  <PresentationFormat>Custom</PresentationFormat>
  <Paragraphs>50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Times New Roman Bold</vt:lpstr>
      <vt:lpstr>Calibri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Green Modern Agriculture Company Profile Presentation</dc:title>
  <dc:creator>Vaibhav Rai A V</dc:creator>
  <cp:lastModifiedBy>Vaibhav Rai A V</cp:lastModifiedBy>
  <cp:revision>2</cp:revision>
  <dcterms:created xsi:type="dcterms:W3CDTF">2006-08-16T00:00:00Z</dcterms:created>
  <dcterms:modified xsi:type="dcterms:W3CDTF">2026-03-06T09:46:13Z</dcterms:modified>
  <dc:identifier>DAHDKWfv02M</dc:identifier>
</cp:coreProperties>
</file>